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17"/>
  </p:notesMasterIdLst>
  <p:sldIdLst>
    <p:sldId id="256" r:id="rId2"/>
    <p:sldId id="267" r:id="rId3"/>
    <p:sldId id="268" r:id="rId4"/>
    <p:sldId id="269" r:id="rId5"/>
    <p:sldId id="263" r:id="rId6"/>
    <p:sldId id="264" r:id="rId7"/>
    <p:sldId id="265" r:id="rId8"/>
    <p:sldId id="266" r:id="rId9"/>
    <p:sldId id="259" r:id="rId10"/>
    <p:sldId id="261" r:id="rId11"/>
    <p:sldId id="262" r:id="rId12"/>
    <p:sldId id="258" r:id="rId13"/>
    <p:sldId id="260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61" d="100"/>
          <a:sy n="61" d="100"/>
        </p:scale>
        <p:origin x="86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FA17D-44E7-4C1D-8A02-5862355BE87A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9A83D-BAAD-4346-B4C5-6A43282A6CF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0426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9A83D-BAAD-4346-B4C5-6A43282A6CF7}" type="slidenum">
              <a:rPr lang="en-UG" smtClean="0"/>
              <a:t>1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8053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4205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6095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5938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2919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0938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8044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2320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0593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501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4253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433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03405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281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0713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63912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523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E820A-448A-4091-87A2-65D88F8E0FE4}" type="datetimeFigureOut">
              <a:rPr lang="en-UG" smtClean="0"/>
              <a:t>27/06/2026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AD5D5F-B7DA-4C5C-8021-A4984D3C371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5967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856666-3053-CE53-C7A4-FF6C35FA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447979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D56920-4B39-66D1-AB4F-AD17F59C6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4050833"/>
            <a:ext cx="8205551" cy="109689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HUB for super-specialised interventional medico-surgical sundries  &amp; implantable medical devices</a:t>
            </a:r>
            <a:endParaRPr lang="en-UG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0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176D-B512-9C32-7DBB-BB71BCF3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&amp; MISSION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E0BD5-E54A-ECCF-F759-0EECE9BAD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08369"/>
            <a:ext cx="9295097" cy="4532993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the most trusted and preferred partner across Uganda &amp; East Africa for immediate access to safe, high-quality specialised medico-surgical sundries and advanced implantable medical devices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gap between global medical innovation and local healthcare needs by providing trusted high quality, cost-friendly, specialized sundries &amp; medical devices, empowering healthcare providers to save lives and improve patient outcomes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G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21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14E3-3922-1C57-7A60-808F5A1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C3BA-2484-9C94-C6D3-EC09319BC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a leading supplier of high-quality specialized medical and surgical sundries across Uganda and East Africa</a:t>
            </a:r>
          </a:p>
          <a:p>
            <a:pPr marL="0" lv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procure, import and distribute high quality implantable medical devices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13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1243-9372-A473-338A-B3A947B8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6BF6-5FC3-0BD0-57D4-BF71DA326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601"/>
            <a:ext cx="8596668" cy="4415762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growing population, expanding private facilities in super-specialized care has increased the interventional care burden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VARENZ supplies LTD aims at bridging the gap in the supply chain secondary to increasing demands.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procuring, importing and distribution of essential specialized sundries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43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E927-8222-5F84-BBC0-0A7B773F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ECONOMIC PIE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DBC7D-4A09-BB44-74A5-03343D0C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277"/>
            <a:ext cx="8596668" cy="429708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health expenditure is approximated between 1.6-2 billion USD(5.23 trillion UGX),constituted of government (37%),donors(43%),out-of-pocket(16%),PNFPs/PFPs(4%).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TAM(Total addressable market) is approx. $85-110M in sundries, of which only 10% is directed to interventional consumables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Uganda private hospitals deserve a supplier partner built for them not one that fits them in between everyone else.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39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1E89-F077-0EDC-E5D0-EC6CD1ED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SOURCE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211D-8E66-03D8-1152-2C318AF14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6807"/>
            <a:ext cx="8596668" cy="450455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pocket(households) at 37%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Donors, 42%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Government, 15%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PNFs, 5%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insurance, 1%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The 37% Out-of-pocket share=your immediate private sector market + cash paying patients at private hospitals</a:t>
            </a:r>
          </a:p>
          <a:p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0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91E2-0D3A-90C4-2F9E-E301CE16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516A-A1CF-6DDA-7C6F-FE77EC5F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Stock-outs(supply disruptions &amp; shortages)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care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NDA Incompliances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inconsistencies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tourism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Improvision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demand 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5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AC34-1DC9-EC62-B0B8-71DA0BF0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9405-EB71-62C2-B460-91B238C2B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the leading professional, NDA-Compliant distributor of super-specialised sundries enabling interventional fluency.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the best procurement relationship where interventionists stop worrying about stock-outs and start focusing on patient outcomes.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super-specialised sundries supply integrity and depth.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consistency in stock delivery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clinical and compliance documentation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63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1307-4BD2-8083-44FF-6E81AE5B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SUPER SPECIALTIES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F086C-A8C0-1C27-F77C-4CF6FA1C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3755"/>
            <a:ext cx="8596668" cy="5079146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Cardiology (incl. Interventional Cardiology, Electrophysiology)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Neurology (incl. Stroke Medicine, Epileptology)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Nephrology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Hepatology &amp; Gastroenterology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Pulmonology / Respiratory Medicine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Endocrinology &amp; Diabetology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Rheumatology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Hematology &amp; Bone Marrow Transplant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Oncology (Medical, Radiation, Surgical)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 &amp; Tropical Medicine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Immunology &amp; Allergy</a:t>
            </a:r>
          </a:p>
          <a:p>
            <a:endParaRPr lang="en-U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01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2B79-E02C-9F6C-C008-9620D505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CONT……………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908A-D522-7CD5-F4DA-E0B0303E8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2497"/>
            <a:ext cx="8596668" cy="5501769"/>
          </a:xfrm>
        </p:spPr>
        <p:txBody>
          <a:bodyPr>
            <a:no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Reproductive &amp; Women's Health &amp; Maternal-Fetal Medicine (Perinatology)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Reproductive (Endocrinology &amp; Infertility)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Gynecologic (Oncology &amp;Urogynecology Diagnostics 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Interventional Radiology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Genetics &amp; Genomics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Pathology sub-specialties (Neuropathology, Hematopathology, etc.)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&amp; Neuroscience (Neuropsychiatry, Forensic Psychiatry, Child &amp; Adolescent Psychiatry)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25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E032-A7E8-0339-77CF-7BF90431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CONT……………..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5544-44FD-C1CA-C087-BD799BD81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9859"/>
            <a:ext cx="8596668" cy="448150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Addiction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Care / Intensive Care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Palliative &amp; Hospice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&amp; Exercise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Geriatric Medicine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Transplant Medicine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03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78D0-C022-7C73-94F6-6B4C2D51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SURGICAL SUPER SPECIALTIES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7EBCD-0CE0-C1F5-1759-6A3799ACE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0919"/>
            <a:ext cx="8596668" cy="5317350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Cardiothoracic &amp; Vascular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&amp; Reconstructive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Hepatobiliary &amp; Transplant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Colorectal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Urological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Orthopedic Surgery (incl. Spine Surgery)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&amp; Maxillofacial Surgery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Ophthalmic Surgery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59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52F2-36C1-43AD-22F2-AA13B6C2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00404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SUPER SPECIALTIES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D9FF-14E9-D7BB-70C7-8F3E80103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Neonatology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Cardiology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Neurology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Oncology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Nephrology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Endocrinology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Pulmonology</a:t>
            </a:r>
          </a:p>
          <a:p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66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EE9A-8917-2854-300A-9696A714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162C-D647-A9ED-42E4-DD79B3AB5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Super-specialised care in Uganda is rising. We are rising with it and making sure the supply chain rises fast.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Team, through our market surveys, shall identify a niche in a super-specialized field to invest In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the start-up strategy</a:t>
            </a:r>
            <a:endParaRPr lang="en-U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52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69FF-022C-9A4D-5034-7CD34B41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8F0A8-1984-518C-99AE-F0EF0C4B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6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“Together we can do great things”</a:t>
            </a:r>
            <a:endParaRPr lang="en-UG" sz="2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634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1435</TotalTime>
  <Words>607</Words>
  <Application>Microsoft Office PowerPoint</Application>
  <PresentationFormat>Widescreen</PresentationFormat>
  <Paragraphs>104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VISION &amp; MISSION</vt:lpstr>
      <vt:lpstr>OBJECTIVES</vt:lpstr>
      <vt:lpstr>SIGNIFICANCE</vt:lpstr>
      <vt:lpstr>HEALTH ECONOMIC PIE</vt:lpstr>
      <vt:lpstr>FUNDING SOURCE</vt:lpstr>
      <vt:lpstr>GAPS</vt:lpstr>
      <vt:lpstr>SOLUTIONS</vt:lpstr>
      <vt:lpstr>MEDICAL SUPER SPECIALTIES</vt:lpstr>
      <vt:lpstr>CONT……………</vt:lpstr>
      <vt:lpstr>CONT……………..</vt:lpstr>
      <vt:lpstr>SURGICAL SUPER SPECIALTIES </vt:lpstr>
      <vt:lpstr>PEDIATRIC SUPER SPECIALTIES </vt:lpstr>
      <vt:lpstr>CONCLUSION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NAMBI WINNIE</dc:creator>
  <cp:lastModifiedBy>NAMBI WINNIE</cp:lastModifiedBy>
  <cp:revision>20</cp:revision>
  <dcterms:created xsi:type="dcterms:W3CDTF">2026-06-27T18:12:23Z</dcterms:created>
  <dcterms:modified xsi:type="dcterms:W3CDTF">2026-06-28T18:08:13Z</dcterms:modified>
</cp:coreProperties>
</file>